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3A5F"/>
                </a:solidFill>
              </a:defRPr>
            </a:pPr>
            <a:r>
              <a:t>Medical Image Segmentation with Swin Transformers</a:t>
            </a:r>
          </a:p>
          <a:p>
            <a:pPr algn="ctr">
              <a:defRPr sz="1800">
                <a:solidFill>
                  <a:srgbClr val="C0392B"/>
                </a:solidFill>
              </a:defRPr>
            </a:pPr>
            <a:r>
              <a:t>3D U-Net baseline vs. Swin UNETR on MSD Task09 (Spleen), with attention-based explainability</a:t>
            </a:r>
          </a:p>
          <a:p>
            <a:pPr algn="ctr">
              <a:defRPr sz="1500">
                <a:solidFill>
                  <a:srgbClr val="222222"/>
                </a:solidFill>
              </a:defRPr>
            </a:pPr>
            <a:r>
              <a:t>Shenkar College — Neural Networks,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Goal &amp;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Segment the spleen from abdominal CT (Medical Segmentation Decathlon, Task09_Spleen)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Compare a classic 3D U-Net against a vision-transformer encoder (Swin UNETR) on identical data/methodology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Explain the transformer's predictions using its internal representations, not just report a score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Core challenge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3D volumetric data at GPU-memory-constrained patch sizes (96³)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A single university-cluster GPU (NVIDIA L4) with wall-clock time limits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Transformer attention internals are version-fragile and only semi-documented in MONAI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3D U-Net (Çiçek et al. 2016) / nnU-Net (Isensee et al. 2021): CNN encoder-decoder, strong but local receptive field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Vision Transformer (Dosovitskiy et al. 2021): global self-attention, quadratic cost, high data requirement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Swin Transformer (Liu et al. 2021): windowed, shifted, hierarchical attention — linear cost, CNN-like multi-scale features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Swin UNETR (Hatamizadeh et al. 2022): Swin encoder + CNN decoder, the architecture used here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Attention explainability (Abnar &amp; Zuidema 2020) mostly targets 2D ViT classification — applying it to 3D segmentation is comparatively unexplored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808080"/>
                </a:solidFill>
              </a:defRPr>
            </a:pPr>
            <a:r>
              <a:t>Full citations and discussion: reports/related_work.md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Method: A Fair, Same-Conditions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Identical data pipeline for both models: same HU windowing/spacing, same 96³ patch transforms (src/data/transforms.py)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Identical fixed-seed 80/20 train/val split (src/data/dataset.py) — evaluation reuses it, never re-splits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Matched training methodology: Adam (lr=1e-4, weight_decay=1e-5), DiceCELoss, dropout=0.2, early stopping patience=20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One deliberate difference: batch_size=1 for Swin UNETR vs. 2 for the baseline — an L4 memory necessity for its heavier attention activations, not a methodology compromise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Two metrics, not one: Dice (volumetric overlap) and HD95 (95th-percentile boundary distance) — chosen specifically because Dice alone can miss localization failures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Process: Two Failures, Diagnosed and 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Failure 1 — Swin UNETR smoke test crashed at model construction (Day 5)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TypeError: unexpected keyword argument 'img_size'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Root cause: installed MONAI release removed that constructor argument; requirements.txt only pinned a lower bound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Fix: removed img_size from the SwinUNETR(...) call; 96³ patch size still enforced from the data/inference side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Failure 2 — Full Swin UNETR run cancelled by a wall-clock time limit at epoch 44/100 (job 322)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Slurm's effective time cap was below the requested --time=04:00:00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No checkpoint-resume support existed — 44 epochs of progress had to be discarded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Fix: full training-state checkpointing + automatic resume added to train.py; re-run completed cleanly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808080"/>
                </a:solidFill>
              </a:defRPr>
            </a:pPr>
            <a:r>
              <a:t>Full sequence, with config/result/analysis/decision for every run: reports/experiment_log.md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Training Dynamics</a:t>
            </a:r>
          </a:p>
          <a:p>
            <a:pPr>
              <a:defRPr sz="1600">
                <a:solidFill>
                  <a:srgbClr val="C0392B"/>
                </a:solidFill>
              </a:defRPr>
            </a:pPr>
            <a:r>
              <a:t>Per-epoch metrics.csv / learning_curve.png were generated on the Shenkar cluster only; not pulled locally for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Baseline 3D U-Net: early-stopped at epoch 75/100 (patience=20), best val Dice reached ~epoch 55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Swin UNETR: early-stopped at epoch 55/100 — this run restarted after a Slurm time-limit cancellation at epoch 44 (job 322) and reproduced its training dynamics exactly up to that point (same seed), then continued to plateau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Both used identical early-stopping criteria (patience=20 on validation Dice) so the stopping points are directly comparable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Results: Baseline vs. Swin UNETR (Raw)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Mean Dice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Std Dice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Mean HD95 (mm)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Std HD95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3D U-Net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0.4750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0.2374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154.25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28.10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Swin UNETR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0.5353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0.1569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155.98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62.79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154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808080"/>
                </a:solidFill>
              </a:defRPr>
            </a:pPr>
            <a:r>
              <a:t>Swin UNETR wins on Dice (+13% relative) but HD95 is essentially flat, with its variance more than doubled.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Key Finding: Dice Improved, HD95 Didn't — Why?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Swin UNETR's Dice gain is driven by rescuing the baseline's two worst cases (spleen_41: 0.14→0.60, spleen_44: 0.16→0.42)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But on those exact two cases, Swin UNETR's HD95 got worse than the baseline's (194→257mm, 185→255mm)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Better overlap + worse worst-point distance on the same case ⇒ consistent with predicting most of the true spleen correctly, plus one or more small false-positive blobs elsewhere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Dice barely notices a small stray blob (tiny share of total volume); HD95 is dominated by the single worst-matched point — exactly why both metrics were tracked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Explainability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Ch.6's raw window-attention weights live deep inside MONAI's SwinTransformer internals — version-specific, undocumented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Reaching that deep already broke this project once (the img_size incompatibility) — a second such break wasn't worth risking on a Slurm queue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Instead: forward-hook the stable, public model.swinViT encoder output, Grad-CAM (Selvaraju et al. 2017) from its deepest stage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Automatic fallback to input-gradient saliency (Simonyan et al. 2013) if model.swinViT isn't present on the installed MONAI version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Method actually used on this run (all 3 cases): grad-cam (model.swinViT deepest stage)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Explainability: Strong Case</a:t>
            </a:r>
          </a:p>
        </p:txBody>
      </p:sp>
      <p:pic>
        <p:nvPicPr>
          <p:cNvPr id="3" name="Picture 2" descr="strong_spleen_12.n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77295" cy="25373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spleen_12.nii — Highest-Dice case. Prediction undershoots the ground truth in this slice despite the best volumetric Dice of the three — a reminder that one slice isn't the whole 3D overlap.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Explainability: Average Case</a:t>
            </a:r>
          </a:p>
        </p:txBody>
      </p:sp>
      <p:pic>
        <p:nvPicPr>
          <p:cNvPr id="3" name="Picture 2" descr="average_spleen_10.n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77295" cy="25373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spleen_10.nii — Cleanest example of the method working as intended: the Grad-CAM hot region sits directly over the true spleen body.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Explainability: Weak Case — the False-Positive Blob</a:t>
            </a:r>
          </a:p>
        </p:txBody>
      </p:sp>
      <p:pic>
        <p:nvPicPr>
          <p:cNvPr id="3" name="Picture 2" descr="weak_spleen_25.n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77295" cy="25373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spleen_25.nii — The prediction covers the true spleen on the left, plus a second, disconnected red region with no ground-truth counterpart — direct visual evidence of the false-positive-blob failure mode.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Diagnosis: Stray False-Positive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Day 7 (metrics) flagged spleen_41/spleen_44 as cases with a Dice win but an HD95 loss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Day 8 (explainability) then visually confirmed the same failure mode on a third case (spleen_25): a disconnected predicted blob with no ground-truth match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Hypothesis: most of Swin UNETR's HD95 problem is small, spatially separate false-positive regions — not a poorly-shaped boundary around a correctly-located spleen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Candidate fix: keep only the largest connected predicted component per case (standard post-processing in medical segmentation for exactly this failure mode)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Fix: Largest-Connected-Component Postprocessing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Mean 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0.5353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0.7649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+0.2296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Mean HD95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155.98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18.46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-137.52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154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808080"/>
                </a:solidFill>
              </a:defRPr>
            </a:pPr>
            <a:r>
              <a:t>Every one of the 8 validation cases improved on BOTH metrics — no regressions. spleen_41/spleen_44 (the flagged HD95 outliers) saw the largest drops: -252mm and -240mm.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Final Comparison (Both Models, Postprocessed)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Mean Dice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Mean HD95 (mm)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3D U-Net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0.6907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33.90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Swin UNETR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0.7649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18.46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154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808080"/>
                </a:solidFill>
              </a:defRPr>
            </a:pPr>
            <a:r>
              <a:t>Evaluated identically (same postprocessing, same split). Swin UNETR wins both metrics: +0.0742 Dice, -15.43mm HD95. Caveat: postprocessing regressed one baseline case (spleen_44, Dice 0.157→0.0) — its largest predicted component wasn't the true spleen, so the fix isn't unconditionally safe. See reports/experiment_log.md.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Explainability heatmaps are coarse by construction (deepest Swin stage collapses a 96³ crop to ~3³ before upsampling)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Explainability crop is centered using the ground-truth label — valid for labeled validation cases, not a deployment-time method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Even after postprocessing, results are not yet at the ~0.90+ Dice / single-digit-mm HD95 published range for this task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Largest-connected-component postprocessing is a strong heuristic, not a safe one: it regressed one baseline case (spleen_44) to Dice 0.0 when the largest predicted component wasn't the true spleen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Candidate next steps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A size-ratio guard before discarding components (e.g. only drop components below some fraction of the largest) to avoid the spleen_44-style regression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Revisit whether early stopping is premature vs. a ceiling (train-loss curves alongside val-Dice, once pulled from the Shenkar server)</a:t>
            </a:r>
          </a:p>
          <a:p>
            <a:pPr lvl="1"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–  Try attention rollout (Abnar &amp; Zuidema 2020) as a second explainability method to cross-check Grad-CAM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Swin UNETR beats the CNN baseline on Dice, but that alone would have hidden an HD95 problem that only two metrics together revealed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Explainability wasn't just a visualization exercise — it directly corroborated a hypothesis formed from the numbers, on an independent case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The diagnosis led to a concrete, low-cost fix (largest-connected-component postprocessing): applied to both models, Dice roughly doubled and HD95 dropped by 4-8x (baseline 0.475→0.691 Dice, 154→34mm HD95; Swin UNETR 0.535→0.765 Dice, 156→18mm HD95)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Final result, both models evaluated identically: Swin UNETR wins on both Dice (0.765 vs. 0.691) and HD95 (18.5mm vs. 33.9mm) — a clear, if partial, win, with one documented exception (baseline's spleen_44) showing the fix isn't unconditionally safe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Every stage of this process — including two failures and a fix's own limitation — is documented as it happened in reports/experiment_log.md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