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F3A5F"/>
                </a:solidFill>
              </a:defRPr>
            </a:pPr>
            <a:r>
              <a:t>Medical Image Segmentation with Swin Transformers</a:t>
            </a:r>
          </a:p>
          <a:p>
            <a:pPr algn="ctr">
              <a:defRPr sz="1800">
                <a:solidFill>
                  <a:srgbClr val="C0392B"/>
                </a:solidFill>
              </a:defRPr>
            </a:pPr>
            <a:r>
              <a:t>3D U-Net baseline vs. Swin UNETR on MSD Task09 (Spleen), with attention-based explainability</a:t>
            </a:r>
          </a:p>
          <a:p>
            <a:pPr algn="ctr">
              <a:defRPr sz="1500">
                <a:solidFill>
                  <a:srgbClr val="222222"/>
                </a:solidFill>
              </a:defRPr>
            </a:pPr>
            <a:r>
              <a:t>Shenkar College — Neural Networks, Final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A5F"/>
                </a:solidFill>
              </a:defRPr>
            </a:pPr>
            <a:r>
              <a:t>Goal &amp;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Segment the spleen from abdominal CT (Medical Segmentation Decathlon, Task09_Spleen)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Compare a classic 3D U-Net against a vision-transformer encoder (Swin UNETR) on identical data/methodology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Explain the transformer's predictions using its internal representations, not just report a score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Core challenge</a:t>
            </a:r>
          </a:p>
          <a:p>
            <a:pPr lvl="1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–  3D volumetric data at GPU-memory-constrained patch sizes (96³)</a:t>
            </a:r>
          </a:p>
          <a:p>
            <a:pPr lvl="1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–  A single university-cluster GPU (NVIDIA L4) with wall-clock time limits</a:t>
            </a:r>
          </a:p>
          <a:p>
            <a:pPr lvl="1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–  Transformer attention internals are version-fragile and only semi-documented in MONAI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A5F"/>
                </a:solidFill>
              </a:defRPr>
            </a:pPr>
            <a: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3D U-Net (Çiçek et al. 2016) / nnU-Net (Isensee et al. 2021): CNN encoder-decoder, strong but local receptive field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Vision Transformer (Dosovitskiy et al. 2021): global self-attention, quadratic cost, high data requirement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Swin Transformer (Liu et al. 2021): windowed, shifted, hierarchical attention — linear cost, CNN-like multi-scale features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Swin UNETR (Hatamizadeh et al. 2022): Swin encoder + CNN decoder, the architecture used here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Attention explainability (Abnar &amp; Zuidema 2020) mostly targets 2D ViT classification — applying it to 3D segmentation is comparatively unexplored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808080"/>
                </a:solidFill>
              </a:defRPr>
            </a:pPr>
            <a:r>
              <a:t>Full citations and discussion: reports/related_work.md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A5F"/>
                </a:solidFill>
              </a:defRPr>
            </a:pPr>
            <a:r>
              <a:t>Method: A Fair, Same-Conditions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Identical data pipeline for both models: same HU windowing/spacing, same 96³ patch transforms (src/data/transforms.py)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Identical fixed-seed 80/20 train/val split (src/data/dataset.py) — evaluation reuses it, never re-splits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Matched training methodology: Adam (lr=1e-4, weight_decay=1e-5), DiceCELoss, dropout=0.2, early stopping patience=20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One deliberate difference: batch_size=1 for Swin UNETR vs. 2 for the baseline — an L4 memory necessity for its heavier attention activations, not a methodology compromise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Two metrics, not one: Dice (volumetric overlap) and HD95 (95th-percentile boundary distance) — chosen specifically because Dice alone can miss localization failures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A5F"/>
                </a:solidFill>
              </a:defRPr>
            </a:pPr>
            <a:r>
              <a:t>Process: Two Failures, Diagnosed and Fixed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Failure 1 — Swin UNETR smoke test crashed at model construction (Day 5)</a:t>
            </a:r>
          </a:p>
          <a:p>
            <a:pPr lvl="1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–  TypeError: unexpected keyword argument 'img_size'</a:t>
            </a:r>
          </a:p>
          <a:p>
            <a:pPr lvl="1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–  Root cause: installed MONAI release removed that constructor argument; requirements.txt only pinned a lower bound</a:t>
            </a:r>
          </a:p>
          <a:p>
            <a:pPr lvl="1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–  Fix: removed img_size from the SwinUNETR(...) call; 96³ patch size still enforced from the data/inference side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Failure 2 — Full Swin UNETR run cancelled by a wall-clock time limit at epoch 44/100 (job 322)</a:t>
            </a:r>
          </a:p>
          <a:p>
            <a:pPr lvl="1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–  Slurm's effective time cap was below the requested --time=04:00:00</a:t>
            </a:r>
          </a:p>
          <a:p>
            <a:pPr lvl="1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–  No checkpoint-resume support existed — 44 epochs of progress had to be discarded</a:t>
            </a:r>
          </a:p>
          <a:p>
            <a:pPr lvl="1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–  Fix: full training-state checkpointing + automatic resume added to train.py; re-run completed cleanly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808080"/>
                </a:solidFill>
              </a:defRPr>
            </a:pPr>
            <a:r>
              <a:t>Full sequence, with config/result/analysis/decision for every run: reports/experiment_log.md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A5F"/>
                </a:solidFill>
              </a:defRPr>
            </a:pPr>
            <a:r>
              <a:t>Learning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Baseline 3D U-Net: early-stopped at epoch 75/100, best val Dice reached ~epoch 55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Swin UNETR: early-stopped at epoch 55/100 (restart of job 322, reproduced its dynamics exactly up to epoch 44, then continued to plateau)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TODO: insert learning_curve.png for both runs once pulled from the Shenkar server (experiments/&lt;run_name&gt;/learning_curve.png) — re-run this script afterward to auto-embed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808080"/>
                </a:solidFill>
              </a:defRPr>
            </a:pPr>
            <a:r>
              <a:t>TODO SLIDE — charts not yet pulled locally; text-only placeholder for now.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A5F"/>
                </a:solidFill>
              </a:defRPr>
            </a:pPr>
            <a:r>
              <a:t>Results: Baseline vs. Swin UNETR (Raw)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72865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Mean Dice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Std Dice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Mean HD95 (mm)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Std HD95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3D U-Net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0.4750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0.2374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154.25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28.10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Swin UNETR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0.5353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0.1569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155.98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62.79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1546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808080"/>
                </a:solidFill>
              </a:defRPr>
            </a:pPr>
            <a:r>
              <a:t>Swin UNETR wins on Dice (+13% relative) but HD95 is essentially flat, with its variance more than doubled.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A5F"/>
                </a:solidFill>
              </a:defRPr>
            </a:pPr>
            <a:r>
              <a:t>Key Finding: Dice Improved, HD95 Didn't — Why?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Swin UNETR's Dice gain is driven by rescuing the baseline's two worst cases (spleen_41: 0.14→0.60, spleen_44: 0.16→0.42)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But on those exact two cases, Swin UNETR's HD95 got worse than the baseline's (194→257mm, 185→255mm)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Better overlap + worse worst-point distance on the same case ⇒ consistent with predicting most of the true spleen correctly, plus one or more small false-positive blobs elsewhere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Dice barely notices a small stray blob (tiny share of total volume); HD95 is dominated by the single worst-matched point — exactly why both metrics were tracked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A5F"/>
                </a:solidFill>
              </a:defRPr>
            </a:pPr>
            <a:r>
              <a:t>Explainability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Ch.6's raw window-attention weights live deep inside MONAI's SwinTransformer internals — version-specific, undocumented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Reaching that deep already broke this project once (the img_size incompatibility) — a second such break wasn't worth risking on a Slurm queue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Instead: forward-hook the stable, public model.swinViT encoder output, Grad-CAM (Selvaraju et al. 2017) from its deepest stage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Automatic fallback to input-gradient saliency (Simonyan et al. 2013) if model.swinViT isn't present on the installed MONAI version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Method actually used on this run (all 3 cases): grad-cam (model.swinViT deepest stage)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A5F"/>
                </a:solidFill>
              </a:defRPr>
            </a:pPr>
            <a:r>
              <a:t>Explainability: Strong Case</a:t>
            </a:r>
          </a:p>
        </p:txBody>
      </p:sp>
      <p:pic>
        <p:nvPicPr>
          <p:cNvPr id="3" name="Picture 2" descr="strong_spleen_12.n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77295" cy="25373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22222"/>
                </a:solidFill>
              </a:defRPr>
            </a:pPr>
            <a:r>
              <a:t>spleen_12.nii — Highest-Dice case. Prediction undershoots the ground truth in this slice despite the best volumetric Dice of the three — a reminder that one slice isn't the whole 3D overlap.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A5F"/>
                </a:solidFill>
              </a:defRPr>
            </a:pPr>
            <a:r>
              <a:t>Explainability: Average Case</a:t>
            </a:r>
          </a:p>
        </p:txBody>
      </p:sp>
      <p:pic>
        <p:nvPicPr>
          <p:cNvPr id="3" name="Picture 2" descr="average_spleen_10.n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77295" cy="25373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22222"/>
                </a:solidFill>
              </a:defRPr>
            </a:pPr>
            <a:r>
              <a:t>spleen_10.nii — Cleanest example of the method working as intended: the Grad-CAM hot region sits directly over the true spleen body.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A5F"/>
                </a:solidFill>
              </a:defRPr>
            </a:pPr>
            <a:r>
              <a:t>Explainability: Weak Case — the False-Positive Blob</a:t>
            </a:r>
          </a:p>
        </p:txBody>
      </p:sp>
      <p:pic>
        <p:nvPicPr>
          <p:cNvPr id="3" name="Picture 2" descr="weak_spleen_25.n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77295" cy="25373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22222"/>
                </a:solidFill>
              </a:defRPr>
            </a:pPr>
            <a:r>
              <a:t>spleen_25.nii — The prediction covers the true spleen on the left, plus a second, disconnected red region with no ground-truth counterpart — direct visual evidence of the false-positive-blob failure mode.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A5F"/>
                </a:solidFill>
              </a:defRPr>
            </a:pPr>
            <a:r>
              <a:t>Diagnosis: Stray False-Positive Components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Day 7 (metrics) flagged spleen_41/spleen_44 as cases with a Dice win but an HD95 loss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Day 8 (explainability) then visually confirmed the same failure mode on a third case (spleen_25): a disconnected predicted blob with no ground-truth match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Hypothesis: most of Swin UNETR's HD95 problem is small, spatially separate false-positive regions — not a poorly-shaped boundary around a correctly-located spleen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Candidate fix: keep only the largest connected predicted component per case (standard post-processing in medical segmentation for exactly this failure mode)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A5F"/>
                </a:solidFill>
              </a:defRPr>
            </a:pPr>
            <a:r>
              <a:t>Fix: Largest-Connected-Component Postprocessing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72865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Mean Dice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0.5353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0.7649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+0.2296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Mean HD95 (mm)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155.98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18.46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22222"/>
                          </a:solidFill>
                        </a:defRPr>
                      </a:pPr>
                      <a:r>
                        <a:t>-137.52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1546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808080"/>
                </a:solidFill>
              </a:defRPr>
            </a:pPr>
            <a:r>
              <a:t>Every one of the 8 validation cases improved on BOTH metrics — no regressions. spleen_41/spleen_44 (the flagged HD95 outliers) saw the largest drops: -252mm and -240mm.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A5F"/>
                </a:solidFill>
              </a:defRPr>
            </a:pPr>
            <a:r>
              <a:t>Final Comparison — Pending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Swin UNETR has been evaluated with postprocessing (previous slide)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The baseline has NOT been postprocessed yet — needed before claiming a final winner, since its raw HD95 (154mm) is just as bad and may have the same fixable cause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TODO: run `sbatch slurm/evaluate.sbatch configs/baseline_unet.yaml outputs/baseline_unet_v1/best_model.pt "" postprocess` on Shenkar, pull the result, re-run this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808080"/>
                </a:solidFill>
              </a:defRPr>
            </a:pPr>
            <a:r>
              <a:t>TODO SLIDE — do not present a 'Swin UNETR wins' conclusion until this is filled in.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A5F"/>
                </a:solidFill>
              </a:defRPr>
            </a:pPr>
            <a:r>
              <a:t>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Explainability heatmaps are coarse by construction (deepest Swin stage collapses a 96³ crop to ~3³ before upsampling)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Explainability crop is centered using the ground-truth label — valid for labeled validation cases, not a deployment-time method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Even after postprocessing, results are not yet at the ~0.90+ Dice / single-digit-mm HD95 published range for this task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Candidate next steps</a:t>
            </a:r>
          </a:p>
          <a:p>
            <a:pPr lvl="1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–  Apply postprocessing to the baseline for a fully fair final comparison</a:t>
            </a:r>
          </a:p>
          <a:p>
            <a:pPr lvl="1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–  Revisit whether early stopping is premature vs. a ceiling (train-loss curves alongside val-Dice)</a:t>
            </a:r>
          </a:p>
          <a:p>
            <a:pPr lvl="1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–  Try attention rollout (Abnar &amp; Zuidema 2020) as a second explainability method to cross-check Grad-CAM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3A5F"/>
                </a:solidFill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Swin UNETR beats the CNN baseline on Dice, but that alone would have hidden an HD95 problem that only two metrics together revealed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Explainability wasn't just a visualization exercise — it directly corroborated a hypothesis formed from the numbers, on an independent case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The diagnosis led to a concrete, low-cost fix (largest-connected-component postprocessing) that nearly closed the gap: Dice 0.535→0.765, HD95 156→18mm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Every stage of this process — including two failures — is documented as it happened in reports/experiment_log.md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